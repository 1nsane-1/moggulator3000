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Hlj+Hoe+SlLXz71QkrJprmljL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 flipH="1">
            <a:off x="6598041" y="4948651"/>
            <a:ext cx="5593596" cy="1912126"/>
          </a:xfrm>
          <a:prstGeom prst="rtTriangle">
            <a:avLst/>
          </a:prstGeom>
          <a:solidFill>
            <a:schemeClr val="accent1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>
            <p:ph type="ctrTitle"/>
          </p:nvPr>
        </p:nvSpPr>
        <p:spPr>
          <a:xfrm>
            <a:off x="796703" y="2924471"/>
            <a:ext cx="10598591" cy="441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2000">
                <a:latin typeface="Calibri"/>
                <a:ea typeface="Calibri"/>
                <a:cs typeface="Calibri"/>
                <a:sym typeface="Calibri"/>
              </a:rPr>
              <a:t>Тема: Разработка </a:t>
            </a:r>
            <a:r>
              <a:rPr lang="ru-RU" sz="2000"/>
              <a:t>программы MOGGулятор67</a:t>
            </a:r>
            <a:r>
              <a:rPr lang="ru-RU" sz="2000">
                <a:latin typeface="Calibri"/>
                <a:ea typeface="Calibri"/>
                <a:cs typeface="Calibri"/>
                <a:sym typeface="Calibri"/>
              </a:rPr>
              <a:t> «</a:t>
            </a:r>
            <a:r>
              <a:rPr lang="ru-RU" sz="2000"/>
              <a:t>Калькулятор с </a:t>
            </a:r>
            <a:r>
              <a:rPr lang="ru-RU" sz="2000">
                <a:latin typeface="Calibri"/>
                <a:ea typeface="Calibri"/>
                <a:cs typeface="Calibri"/>
                <a:sym typeface="Calibri"/>
              </a:rPr>
              <a:t>встроенной камерой для решения задач»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2814818" y="6305285"/>
            <a:ext cx="61427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Новосибирск, 2026</a:t>
            </a:r>
            <a:endParaRPr/>
          </a:p>
        </p:txBody>
      </p:sp>
      <p:pic>
        <p:nvPicPr>
          <p:cNvPr descr="Picture background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9190" y="737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Picture background"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842100" y="5043255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1523999" y="958971"/>
            <a:ext cx="9144001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МИНИСТЕРСТВО ОБРАЗОВАНИЯ НОВОСИБИРСКОЙ ОБЛАСТИ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Государственное бюджетное профессиональное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образовательное учреждение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Новосибирской области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«Новосибирский электромеханический колледж»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ГБПОУ НСО «НЭК»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231685" y="3489561"/>
            <a:ext cx="77286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Специальность: 09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.02.07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0" y="5843620"/>
            <a:ext cx="611869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Студенты: Кондрашкин Г. Д. Грузин Е. </a:t>
            </a: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Группа: ИСП43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Руководитель:Егоров Роман Владимирович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7675124" y="2247088"/>
            <a:ext cx="3540868" cy="269754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 flipH="1">
            <a:off x="6594537" y="4945147"/>
            <a:ext cx="5593596" cy="1912126"/>
          </a:xfrm>
          <a:prstGeom prst="rtTriangle">
            <a:avLst/>
          </a:prstGeom>
          <a:solidFill>
            <a:schemeClr val="accent1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>
            <p:ph type="title"/>
          </p:nvPr>
        </p:nvSpPr>
        <p:spPr>
          <a:xfrm>
            <a:off x="933824" y="54325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ru-RU" sz="3200"/>
              <a:t>Актуальность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325352" y="1611806"/>
            <a:ext cx="97251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2000"/>
              <a:t>ПРОБЛЕМА:</a:t>
            </a:r>
            <a:endParaRPr b="1"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ru-RU" sz="2000"/>
              <a:t>- Ручной ввод примеров занимает много времени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ru-RU" sz="2000"/>
              <a:t>- Опечатки искажают результат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ru-RU" sz="2000"/>
              <a:t>- Сложные выражения (дроби, степени, корни)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ru-RU" sz="2000"/>
              <a:t>  тяжело набирать с телефона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2000"/>
              <a:t>ПОЛЬЗОВАТЕЛИ:</a:t>
            </a:r>
            <a:endParaRPr b="1"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ru-RU" sz="2000"/>
              <a:t>- Школьники и студенты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ru-RU" sz="2000"/>
              <a:t>- Преподаватели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ru-RU" sz="2000"/>
              <a:t>- Обычные пользователи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2000"/>
              <a:t>РЕШЕНИЕ:</a:t>
            </a:r>
            <a:endParaRPr b="1"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ru-RU" sz="2000"/>
              <a:t>MOGGулятор3000</a:t>
            </a:r>
            <a:r>
              <a:rPr lang="ru-RU" sz="2000"/>
              <a:t> — калькулятор с камерой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ru-RU" sz="2000"/>
              <a:t>- Навёл камеру — распознал — получил ответ</a:t>
            </a:r>
            <a:endParaRPr sz="2000"/>
          </a:p>
          <a:p>
            <a:pPr indent="-241300" lvl="0" marL="2286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ru-RU" sz="2000"/>
              <a:t>- Без ручного ввода</a:t>
            </a:r>
            <a:endParaRPr sz="2000"/>
          </a:p>
        </p:txBody>
      </p:sp>
      <p:sp>
        <p:nvSpPr>
          <p:cNvPr id="104" name="Google Shape;10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Picture background"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11125" y="-7947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Picture background"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842100" y="5043255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6444" y="2247100"/>
            <a:ext cx="3798239" cy="269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7704306" y="2344111"/>
            <a:ext cx="3356043" cy="276563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 flipH="1">
            <a:off x="6594537" y="4945147"/>
            <a:ext cx="5593596" cy="1912126"/>
          </a:xfrm>
          <a:prstGeom prst="rtTriangle">
            <a:avLst/>
          </a:prstGeom>
          <a:solidFill>
            <a:schemeClr val="accent1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Picture background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9728" y="-9728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Picture background"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842100" y="5043255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>
            <p:ph type="title"/>
          </p:nvPr>
        </p:nvSpPr>
        <p:spPr>
          <a:xfrm>
            <a:off x="838200" y="5304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ru-RU" sz="3200"/>
              <a:t>Цель и задачи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287533" y="2051821"/>
            <a:ext cx="65547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ЦЕЛЬ: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Разработать приложение MOGGулятор3000,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которое распознаёт математические примеры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 камеры и мгновенно их решает.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ЗАДАЧИ: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Изучить существующие решения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Спроектировать архитектуру приложения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Реализовать захват изображения с камеры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Интегрировать модуль распознавания (OCR)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Реализовать парсер и вычислитель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Разработать удобный интерфейс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Провести тестирование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Подготовить документацию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5862" y="2394250"/>
            <a:ext cx="3752934" cy="266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 flipH="1">
            <a:off x="6594537" y="4945147"/>
            <a:ext cx="5593596" cy="1912126"/>
          </a:xfrm>
          <a:prstGeom prst="rtTriangle">
            <a:avLst/>
          </a:prstGeom>
          <a:solidFill>
            <a:schemeClr val="accent1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Picture background"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9728" y="-9728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Picture background"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842100" y="5043255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>
            <p:ph type="title"/>
          </p:nvPr>
        </p:nvSpPr>
        <p:spPr>
          <a:xfrm>
            <a:off x="838200" y="5304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ru-RU" sz="3200"/>
              <a:t>Сравнение с аналогами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608300" y="1677700"/>
            <a:ext cx="6965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Photomath - только на телефоне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Радио и карты - отдельные сайты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Шахматы - отдельные сайты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MOGGулятор3000 - всё в одном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6800" y="1804804"/>
            <a:ext cx="407050" cy="40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8050" y="2236979"/>
            <a:ext cx="407050" cy="40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8400" y="2644029"/>
            <a:ext cx="407050" cy="40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8400" y="3283922"/>
            <a:ext cx="814101" cy="81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 flipH="1">
            <a:off x="6594537" y="4945147"/>
            <a:ext cx="5593596" cy="1912126"/>
          </a:xfrm>
          <a:prstGeom prst="rtTriangle">
            <a:avLst/>
          </a:prstGeom>
          <a:solidFill>
            <a:schemeClr val="accent1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Picture background"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9728" y="-9728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Picture background"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842100" y="5043255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/>
          <p:nvPr>
            <p:ph type="title"/>
          </p:nvPr>
        </p:nvSpPr>
        <p:spPr>
          <a:xfrm>
            <a:off x="838200" y="1511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ru-RU" sz="3200"/>
              <a:t>Выбор инструментов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735825" y="2129025"/>
            <a:ext cx="5651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С++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 Code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Vercel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2000" y="1501493"/>
            <a:ext cx="3170243" cy="3163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 flipH="1">
            <a:off x="6594537" y="4945147"/>
            <a:ext cx="5593596" cy="1912126"/>
          </a:xfrm>
          <a:prstGeom prst="rtTriangle">
            <a:avLst/>
          </a:prstGeom>
          <a:solidFill>
            <a:schemeClr val="accent1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Picture background"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9728" y="-9728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Picture background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842100" y="5043255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53" name="Google Shape;153;p6"/>
          <p:cNvSpPr txBox="1"/>
          <p:nvPr>
            <p:ph type="title"/>
          </p:nvPr>
        </p:nvSpPr>
        <p:spPr>
          <a:xfrm>
            <a:off x="838200" y="5304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ru-RU" sz="3200"/>
              <a:t>Архитектура</a:t>
            </a:r>
            <a:endParaRPr/>
          </a:p>
        </p:txBody>
      </p:sp>
      <p:sp>
        <p:nvSpPr>
          <p:cNvPr id="154" name="Google Shape;154;p6"/>
          <p:cNvSpPr txBox="1"/>
          <p:nvPr/>
        </p:nvSpPr>
        <p:spPr>
          <a:xfrm>
            <a:off x="255902" y="1856060"/>
            <a:ext cx="48222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МОДУЛИ: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Модуль захвата изображения (камера)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Модуль распознавания (OCR / нейросеть)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Модуль парсинга выражения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Модуль вычислений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Пользовательский интерфейс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2001" y="2057510"/>
            <a:ext cx="3920404" cy="2784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 flipH="1">
            <a:off x="6594537" y="4945147"/>
            <a:ext cx="5593596" cy="1912126"/>
          </a:xfrm>
          <a:prstGeom prst="rtTriangle">
            <a:avLst/>
          </a:prstGeom>
          <a:solidFill>
            <a:schemeClr val="accent1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Picture background"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9728" y="-9728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Picture background"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842100" y="5043255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64" name="Google Shape;164;p7"/>
          <p:cNvSpPr txBox="1"/>
          <p:nvPr>
            <p:ph type="title"/>
          </p:nvPr>
        </p:nvSpPr>
        <p:spPr>
          <a:xfrm>
            <a:off x="838200" y="5304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ru-RU" sz="3200"/>
              <a:t>Структура</a:t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338035" y="1662338"/>
            <a:ext cx="5593500" cy="3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СТРУКТУРА ПРОЕКТА MOGGулятор3000: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MOGGulator3000/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├── src/                 # Ядро приложения (C++17)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│   ├── main.cpp         # CLI / REPL-интерфейс пользователя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│   ├── evaluator.*      # Алгоритм RPN и обработка ошибок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│   └── step_generator.* # Пошаговая генерация решения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├── tests/               # Модульное тестирование (12 CTest тестов)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├── docs/                # Документация (User Guide, Install Guide, Метрики)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├── data/                # Отчёты взаимного ревью (Code Review)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└── CMakeLists.txt       # Конфигурация кроссплатформенной сборки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2107" y="2313935"/>
            <a:ext cx="3920404" cy="2784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 flipH="1">
            <a:off x="6594537" y="4945147"/>
            <a:ext cx="5593596" cy="1912126"/>
          </a:xfrm>
          <a:prstGeom prst="rtTriangle">
            <a:avLst/>
          </a:prstGeom>
          <a:solidFill>
            <a:schemeClr val="accent1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Picture background" id="173" name="Google Shape;1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9728" y="-9728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Picture background" id="174" name="Google Shape;1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842100" y="5043255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75" name="Google Shape;175;p8"/>
          <p:cNvSpPr txBox="1"/>
          <p:nvPr>
            <p:ph type="title"/>
          </p:nvPr>
        </p:nvSpPr>
        <p:spPr>
          <a:xfrm>
            <a:off x="838200" y="5304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ru-RU" sz="3200"/>
              <a:t>Интерфейс</a:t>
            </a:r>
            <a:endParaRPr/>
          </a:p>
        </p:txBody>
      </p:sp>
      <p:pic>
        <p:nvPicPr>
          <p:cNvPr id="176" name="Google Shape;1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8200" y="1659210"/>
            <a:ext cx="4619943" cy="4697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/>
          <p:nvPr/>
        </p:nvSpPr>
        <p:spPr>
          <a:xfrm flipH="1">
            <a:off x="6594537" y="4945147"/>
            <a:ext cx="5593596" cy="1912126"/>
          </a:xfrm>
          <a:prstGeom prst="rtTriangle">
            <a:avLst/>
          </a:prstGeom>
          <a:solidFill>
            <a:schemeClr val="accent1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Picture background" id="183" name="Google Shape;1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9728" y="-9728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Picture background"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842100" y="5043255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85" name="Google Shape;185;p10"/>
          <p:cNvSpPr txBox="1"/>
          <p:nvPr>
            <p:ph type="title"/>
          </p:nvPr>
        </p:nvSpPr>
        <p:spPr>
          <a:xfrm>
            <a:off x="838200" y="5304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ru-RU" sz="3200"/>
              <a:t>Баги и их решение</a:t>
            </a:r>
            <a:endParaRPr/>
          </a:p>
        </p:txBody>
      </p:sp>
      <p:pic>
        <p:nvPicPr>
          <p:cNvPr id="186" name="Google Shape;18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3800" y="1724377"/>
            <a:ext cx="4800368" cy="340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 txBox="1"/>
          <p:nvPr/>
        </p:nvSpPr>
        <p:spPr>
          <a:xfrm>
            <a:off x="598475" y="2864850"/>
            <a:ext cx="565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Баг: Не работал ассистент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Решение: Обновил API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0207" y="1498082"/>
            <a:ext cx="3951993" cy="478003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/>
          <p:nvPr/>
        </p:nvSpPr>
        <p:spPr>
          <a:xfrm flipH="1">
            <a:off x="6594537" y="4945147"/>
            <a:ext cx="5593596" cy="1912126"/>
          </a:xfrm>
          <a:prstGeom prst="rtTriangle">
            <a:avLst/>
          </a:prstGeom>
          <a:solidFill>
            <a:schemeClr val="accent1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Picture background" id="195" name="Google Shape;19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-9728" y="-9728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Picture background" id="196" name="Google Shape;19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842100" y="5043255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97" name="Google Shape;197;p11"/>
          <p:cNvSpPr txBox="1"/>
          <p:nvPr>
            <p:ph type="title"/>
          </p:nvPr>
        </p:nvSpPr>
        <p:spPr>
          <a:xfrm>
            <a:off x="838200" y="5304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ru-RU" sz="3200"/>
              <a:t>Результаты тестирования</a:t>
            </a:r>
            <a:endParaRPr/>
          </a:p>
        </p:txBody>
      </p:sp>
      <p:pic>
        <p:nvPicPr>
          <p:cNvPr id="198" name="Google Shape;19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1499034"/>
            <a:ext cx="4467124" cy="5329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/>
          <p:nvPr/>
        </p:nvSpPr>
        <p:spPr>
          <a:xfrm flipH="1">
            <a:off x="6594537" y="4945147"/>
            <a:ext cx="5593596" cy="1912126"/>
          </a:xfrm>
          <a:prstGeom prst="rtTriangle">
            <a:avLst/>
          </a:prstGeom>
          <a:solidFill>
            <a:schemeClr val="accent1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Picture background" id="205" name="Google Shape;2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9728" y="-9728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Picture background" id="206" name="Google Shape;20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842100" y="5043255"/>
            <a:ext cx="5353435" cy="1814533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207" name="Google Shape;207;p12"/>
          <p:cNvSpPr txBox="1"/>
          <p:nvPr>
            <p:ph type="title"/>
          </p:nvPr>
        </p:nvSpPr>
        <p:spPr>
          <a:xfrm>
            <a:off x="838200" y="5304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ru-RU" sz="3200"/>
              <a:t>Вывод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435312" y="1856060"/>
            <a:ext cx="52845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Цель проекта достигнута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Все задачи выполнены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РЕЗУЛЬТАТ: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Разработано приложение MOGGулятор3000,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которое: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распознаёт примеры с камеры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мгновенно решает их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экономит время пользователя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ПЛАНЫ: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Расширение функционала и обратная связь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6589" y="2258960"/>
            <a:ext cx="3920404" cy="2784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2024-11-13T02:12:34Z</dcterms:created>
  <dc:creator>Пользователь</dc:creator>
</cp:coreProperties>
</file>